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2"/>
    <p:sldId id="258" r:id="rId3"/>
    <p:sldId id="276" r:id="rId4"/>
    <p:sldId id="259" r:id="rId5"/>
    <p:sldId id="268" r:id="rId6"/>
    <p:sldId id="274" r:id="rId7"/>
    <p:sldId id="260" r:id="rId8"/>
    <p:sldId id="275" r:id="rId9"/>
    <p:sldId id="277" r:id="rId10"/>
    <p:sldId id="278" r:id="rId11"/>
    <p:sldId id="285" r:id="rId12"/>
    <p:sldId id="293" r:id="rId13"/>
    <p:sldId id="286" r:id="rId14"/>
    <p:sldId id="287" r:id="rId15"/>
    <p:sldId id="288" r:id="rId16"/>
    <p:sldId id="292" r:id="rId17"/>
    <p:sldId id="289" r:id="rId18"/>
    <p:sldId id="290" r:id="rId19"/>
    <p:sldId id="291" r:id="rId20"/>
    <p:sldId id="294"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77" autoAdjust="0"/>
    <p:restoredTop sz="94660"/>
  </p:normalViewPr>
  <p:slideViewPr>
    <p:cSldViewPr snapToGrid="0" showGuides="1">
      <p:cViewPr varScale="1">
        <p:scale>
          <a:sx n="43" d="100"/>
          <a:sy n="43" d="100"/>
        </p:scale>
        <p:origin x="58" y="10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uma Korlam" userId="f69f9c849e98063e" providerId="LiveId" clId="{36BB10F3-4B65-4773-B07D-1734DAC2766D}"/>
    <pc:docChg chg="undo custSel modSld">
      <pc:chgData name="Kusuma Korlam" userId="f69f9c849e98063e" providerId="LiveId" clId="{36BB10F3-4B65-4773-B07D-1734DAC2766D}" dt="2025-04-30T10:44:04.849" v="1" actId="21"/>
      <pc:docMkLst>
        <pc:docMk/>
      </pc:docMkLst>
      <pc:sldChg chg="addSp delSp modSp mod">
        <pc:chgData name="Kusuma Korlam" userId="f69f9c849e98063e" providerId="LiveId" clId="{36BB10F3-4B65-4773-B07D-1734DAC2766D}" dt="2025-04-30T10:44:04.849" v="1" actId="21"/>
        <pc:sldMkLst>
          <pc:docMk/>
          <pc:sldMk cId="2206845035" sldId="289"/>
        </pc:sldMkLst>
        <pc:spChg chg="add del mod">
          <ac:chgData name="Kusuma Korlam" userId="f69f9c849e98063e" providerId="LiveId" clId="{36BB10F3-4B65-4773-B07D-1734DAC2766D}" dt="2025-04-30T10:44:04.849" v="1" actId="21"/>
          <ac:spMkLst>
            <pc:docMk/>
            <pc:sldMk cId="2206845035" sldId="289"/>
            <ac:spMk id="4" creationId="{DB327423-06E3-8E6C-1F97-611DA4E77AB8}"/>
          </ac:spMkLst>
        </pc:spChg>
        <pc:picChg chg="add del">
          <ac:chgData name="Kusuma Korlam" userId="f69f9c849e98063e" providerId="LiveId" clId="{36BB10F3-4B65-4773-B07D-1734DAC2766D}" dt="2025-04-30T10:44:04.849" v="1" actId="21"/>
          <ac:picMkLst>
            <pc:docMk/>
            <pc:sldMk cId="2206845035" sldId="289"/>
            <ac:picMk id="5" creationId="{8DF8816B-E098-707E-D388-392EE49234B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DE09F6-35F0-4BD9-B413-870CCF1D7DBE}"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0DE09F6-35F0-4BD9-B413-870CCF1D7DBE}"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0DE09F6-35F0-4BD9-B413-870CCF1D7DBE}"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0DE09F6-35F0-4BD9-B413-870CCF1D7DBE}"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DE09F6-35F0-4BD9-B413-870CCF1D7DBE}"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DE09F6-35F0-4BD9-B413-870CCF1D7DBE}"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0DE09F6-35F0-4BD9-B413-870CCF1D7DBE}"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52A416A-7D92-4211-AD23-0968018DD294}"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E09F6-35F0-4BD9-B413-870CCF1D7DBE}" type="datetimeFigureOut">
              <a:rPr lang="en-IN" smtClean="0"/>
              <a:t>30-04-2025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2A416A-7D92-4211-AD23-0968018DD294}"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3948" y="243467"/>
            <a:ext cx="9773586" cy="1489710"/>
          </a:xfrm>
          <a:prstGeom prst="rect">
            <a:avLst/>
          </a:prstGeom>
        </p:spPr>
        <p:txBody>
          <a:bodyPr vert="horz" wrap="square" lIns="0" tIns="12700" rIns="0" bIns="0" rtlCol="0" anchor="ctr">
            <a:spAutoFit/>
          </a:bodyPr>
          <a:lstStyle/>
          <a:p>
            <a:pPr marL="704850" marR="5080" indent="-692785" algn="ctr">
              <a:lnSpc>
                <a:spcPct val="100000"/>
              </a:lnSpc>
              <a:spcBef>
                <a:spcPts val="100"/>
              </a:spcBef>
            </a:pPr>
            <a:r>
              <a:rPr lang="en-US" sz="2400" b="1" dirty="0">
                <a:latin typeface="Times New Roman" panose="02020603050405020304" pitchFamily="18" charset="0"/>
                <a:cs typeface="Times New Roman" panose="02020603050405020304" pitchFamily="18" charset="0"/>
              </a:rPr>
              <a:t>  MALLA REDDY COLLEGE OF ENGINEERING &amp; TECHNOLOGY</a:t>
            </a:r>
            <a:br>
              <a:rPr lang="en-US" sz="24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(Autonomous Institution – UGC, Govt. of India)</a:t>
            </a:r>
            <a:br>
              <a:rPr lang="en-US" sz="20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br>
              <a:rPr lang="en-US" sz="28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DEPARTMENT OF INFORMATION TECHNOLOGY</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571501" y="2405105"/>
            <a:ext cx="10705726" cy="1243930"/>
          </a:xfrm>
          <a:prstGeom prst="rect">
            <a:avLst/>
          </a:prstGeom>
        </p:spPr>
        <p:txBody>
          <a:bodyPr vert="horz" wrap="square" lIns="0" tIns="12700" rIns="0" bIns="0" rtlCol="0">
            <a:spAutoFit/>
          </a:bodyPr>
          <a:lstStyle/>
          <a:p>
            <a:pPr marL="12700" marR="5080" algn="ctr">
              <a:spcBef>
                <a:spcPts val="100"/>
              </a:spcBef>
            </a:pPr>
            <a:r>
              <a:rPr lang="en-US" sz="4000" b="1" dirty="0">
                <a:latin typeface="Times New Roman" panose="02020603050405020304" pitchFamily="18" charset="0"/>
                <a:cs typeface="Times New Roman" panose="02020603050405020304" pitchFamily="18" charset="0"/>
              </a:rPr>
              <a:t>MISSING CHILD IDENTIFICATION USING CONVOLUTIONAL NEURAL NETWORK</a:t>
            </a:r>
            <a:endParaRPr lang="en-IN" sz="4000" b="1" dirty="0">
              <a:latin typeface="Times New Roman" panose="02020603050405020304" pitchFamily="18" charset="0"/>
              <a:cs typeface="Times New Roman" panose="02020603050405020304" pitchFamily="18" charset="0"/>
            </a:endParaRPr>
          </a:p>
        </p:txBody>
      </p:sp>
      <p:sp>
        <p:nvSpPr>
          <p:cNvPr id="5" name="object 5"/>
          <p:cNvSpPr txBox="1"/>
          <p:nvPr/>
        </p:nvSpPr>
        <p:spPr>
          <a:xfrm>
            <a:off x="8159750" y="4147185"/>
            <a:ext cx="3217545" cy="1200150"/>
          </a:xfrm>
          <a:prstGeom prst="rect">
            <a:avLst/>
          </a:prstGeom>
        </p:spPr>
        <p:txBody>
          <a:bodyPr vert="horz" wrap="square" lIns="0" tIns="12700" rIns="0" bIns="0" rtlCol="0">
            <a:noAutofit/>
          </a:bodyPr>
          <a:lstStyle/>
          <a:p>
            <a:pPr marL="12700" marR="5080">
              <a:spcBef>
                <a:spcPts val="100"/>
              </a:spcBef>
            </a:pPr>
            <a:r>
              <a:rPr sz="2400" b="1" spc="-5" dirty="0">
                <a:latin typeface="Times New Roman" panose="02020603050405020304" pitchFamily="18" charset="0"/>
                <a:cs typeface="Times New Roman" panose="02020603050405020304" pitchFamily="18" charset="0"/>
              </a:rPr>
              <a:t>Under the </a:t>
            </a:r>
            <a:r>
              <a:rPr lang="en-IN" sz="2400" b="1" spc="-5" dirty="0">
                <a:latin typeface="Times New Roman" panose="02020603050405020304" pitchFamily="18" charset="0"/>
                <a:cs typeface="Times New Roman" panose="02020603050405020304" pitchFamily="18" charset="0"/>
              </a:rPr>
              <a:t>G</a:t>
            </a:r>
            <a:r>
              <a:rPr sz="2400" b="1" spc="-5" dirty="0">
                <a:latin typeface="Times New Roman" panose="02020603050405020304" pitchFamily="18" charset="0"/>
                <a:cs typeface="Times New Roman" panose="02020603050405020304" pitchFamily="18" charset="0"/>
              </a:rPr>
              <a:t>uidance of</a:t>
            </a:r>
            <a:r>
              <a:rPr b="1" spc="-5" dirty="0">
                <a:latin typeface="Calibri" panose="020F0502020204030204"/>
                <a:cs typeface="Calibri" panose="020F0502020204030204"/>
              </a:rPr>
              <a:t> </a:t>
            </a:r>
            <a:r>
              <a:rPr b="1" dirty="0">
                <a:latin typeface="Calibri" panose="020F0502020204030204"/>
                <a:cs typeface="Calibri" panose="020F0502020204030204"/>
              </a:rPr>
              <a:t> </a:t>
            </a:r>
            <a:endParaRPr lang="en-IN" b="1" dirty="0">
              <a:latin typeface="Calibri" panose="020F0502020204030204"/>
              <a:cs typeface="Calibri" panose="020F0502020204030204"/>
            </a:endParaRPr>
          </a:p>
          <a:p>
            <a:pPr marL="12700" marR="5080">
              <a:spcBef>
                <a:spcPts val="100"/>
              </a:spcBef>
            </a:pPr>
            <a:r>
              <a:rPr lang="en-IN" dirty="0">
                <a:latin typeface="Calibri" panose="020F0502020204030204"/>
                <a:cs typeface="Calibri" panose="020F0502020204030204"/>
              </a:rPr>
              <a:t>Mr K.KOUSHIL REDDY</a:t>
            </a:r>
          </a:p>
          <a:p>
            <a:pPr marL="12700" marR="5080">
              <a:spcBef>
                <a:spcPts val="100"/>
              </a:spcBef>
            </a:pPr>
            <a:r>
              <a:rPr lang="en-IN" dirty="0">
                <a:latin typeface="Calibri" panose="020F0502020204030204"/>
                <a:cs typeface="Calibri" panose="020F0502020204030204"/>
                <a:sym typeface="+mn-ea"/>
              </a:rPr>
              <a:t>Assistant Professor</a:t>
            </a:r>
            <a:endParaRPr lang="en-IN" dirty="0">
              <a:latin typeface="Calibri" panose="020F0502020204030204"/>
              <a:cs typeface="Calibri" panose="020F0502020204030204"/>
            </a:endParaRPr>
          </a:p>
          <a:p>
            <a:pPr marL="12700" marR="5080">
              <a:spcBef>
                <a:spcPts val="100"/>
              </a:spcBef>
            </a:pPr>
            <a:endParaRPr dirty="0">
              <a:latin typeface="Calibri" panose="020F0502020204030204"/>
              <a:cs typeface="Calibri" panose="020F0502020204030204"/>
            </a:endParaRPr>
          </a:p>
        </p:txBody>
      </p:sp>
      <p:sp>
        <p:nvSpPr>
          <p:cNvPr id="6" name="object 6"/>
          <p:cNvSpPr txBox="1"/>
          <p:nvPr/>
        </p:nvSpPr>
        <p:spPr>
          <a:xfrm>
            <a:off x="571501" y="4145584"/>
            <a:ext cx="4389823" cy="1632585"/>
          </a:xfrm>
          <a:prstGeom prst="rect">
            <a:avLst/>
          </a:prstGeom>
        </p:spPr>
        <p:txBody>
          <a:bodyPr vert="horz" wrap="square" lIns="0" tIns="12700" rIns="0" bIns="0" rtlCol="0">
            <a:spAutoFit/>
          </a:bodyPr>
          <a:lstStyle/>
          <a:p>
            <a:pPr marL="12700">
              <a:spcBef>
                <a:spcPts val="100"/>
              </a:spcBef>
            </a:pPr>
            <a:r>
              <a:rPr lang="en-US" sz="2400" b="1" spc="-45" dirty="0">
                <a:latin typeface="Times New Roman" panose="02020603050405020304" pitchFamily="18" charset="0"/>
                <a:cs typeface="Times New Roman" panose="02020603050405020304" pitchFamily="18" charset="0"/>
              </a:rPr>
              <a:t>Batch</a:t>
            </a:r>
            <a:r>
              <a:rPr sz="2400" b="1" spc="-30" dirty="0">
                <a:latin typeface="Times New Roman" panose="02020603050405020304" pitchFamily="18" charset="0"/>
                <a:cs typeface="Times New Roman" panose="02020603050405020304" pitchFamily="18" charset="0"/>
              </a:rPr>
              <a:t> </a:t>
            </a:r>
            <a:r>
              <a:rPr lang="en-IN" sz="2400" b="1" spc="-30" dirty="0">
                <a:latin typeface="Times New Roman" panose="02020603050405020304" pitchFamily="18" charset="0"/>
                <a:cs typeface="Times New Roman" panose="02020603050405020304" pitchFamily="18" charset="0"/>
              </a:rPr>
              <a:t>No</a:t>
            </a:r>
            <a:r>
              <a:rPr lang="en-IN" sz="2400" b="1" spc="-5" dirty="0">
                <a:latin typeface="Times New Roman" panose="02020603050405020304" pitchFamily="18" charset="0"/>
                <a:cs typeface="Times New Roman" panose="02020603050405020304" pitchFamily="18" charset="0"/>
              </a:rPr>
              <a:t>: 19</a:t>
            </a:r>
          </a:p>
          <a:p>
            <a:pPr marL="12700">
              <a:spcBef>
                <a:spcPts val="100"/>
              </a:spcBef>
            </a:pPr>
            <a:endParaRPr lang="en-US" sz="10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6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M.SREERAM</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(21N31A1291)</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a:lnSpc>
                <a:spcPct val="106000"/>
              </a:lnSpc>
              <a:spcBef>
                <a:spcPts val="0"/>
              </a:spcBef>
              <a:spcAft>
                <a:spcPts val="800"/>
              </a:spcAft>
            </a:pPr>
            <a:r>
              <a:rPr lang="en-US" b="1" kern="100" dirty="0">
                <a:latin typeface="Times New Roman" panose="02020603050405020304" pitchFamily="18" charset="0"/>
                <a:ea typeface="Calibri" panose="020F0502020204030204" pitchFamily="34" charset="0"/>
                <a:cs typeface="Times New Roman" panose="02020603050405020304" pitchFamily="18" charset="0"/>
              </a:rPr>
              <a:t>K.SIDDHARTHA</a:t>
            </a:r>
            <a:r>
              <a:rPr lang="en-US" kern="100" dirty="0">
                <a:latin typeface="Calibri" panose="020F0502020204030204" pitchFamily="34" charset="0"/>
                <a:ea typeface="Calibri" panose="020F0502020204030204" pitchFamily="34" charset="0"/>
                <a:cs typeface="Times New Roman" panose="02020603050405020304" pitchFamily="18" charset="0"/>
              </a:rPr>
              <a:t>(21N31A1276)</a:t>
            </a:r>
          </a:p>
          <a:p>
            <a:pPr marL="0" marR="0">
              <a:lnSpc>
                <a:spcPct val="106000"/>
              </a:lnSpc>
              <a:spcBef>
                <a:spcPts val="0"/>
              </a:spcBef>
              <a:spcAft>
                <a:spcPts val="800"/>
              </a:spcAft>
            </a:pPr>
            <a:r>
              <a:rPr lang="en-US" b="1" kern="100" dirty="0">
                <a:latin typeface="Times New Roman" panose="02020603050405020304" pitchFamily="18" charset="0"/>
                <a:ea typeface="Calibri" panose="020F0502020204030204" pitchFamily="34" charset="0"/>
                <a:cs typeface="Times New Roman" panose="02020603050405020304" pitchFamily="18" charset="0"/>
              </a:rPr>
              <a:t>G.PAVAN KUMAR</a:t>
            </a:r>
            <a:r>
              <a:rPr lang="en-US" kern="100" dirty="0">
                <a:latin typeface="Calibri" panose="020F0502020204030204" pitchFamily="34" charset="0"/>
                <a:ea typeface="Calibri" panose="020F0502020204030204" pitchFamily="34" charset="0"/>
                <a:cs typeface="Times New Roman" panose="02020603050405020304" pitchFamily="18" charset="0"/>
              </a:rPr>
              <a: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22</a:t>
            </a:r>
            <a:r>
              <a:rPr lang="en-US" kern="100" dirty="0">
                <a:latin typeface="Calibri" panose="020F0502020204030204" pitchFamily="34" charset="0"/>
                <a:ea typeface="Calibri" panose="020F0502020204030204" pitchFamily="34" charset="0"/>
                <a:cs typeface="Times New Roman" panose="02020603050405020304" pitchFamily="18" charset="0"/>
              </a:rPr>
              <a:t>N35A1212)</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7243" y="199869"/>
            <a:ext cx="1106774" cy="12567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sz="4400" b="1" spc="-60" dirty="0">
                <a:latin typeface="Times New Roman" panose="02020603050405020304" pitchFamily="18" charset="0"/>
                <a:cs typeface="Times New Roman" panose="02020603050405020304" pitchFamily="18" charset="0"/>
              </a:rPr>
              <a:t>A</a:t>
            </a:r>
            <a:r>
              <a:rPr lang="en-IN" sz="4400" b="1" spc="-5" dirty="0">
                <a:latin typeface="Times New Roman" panose="02020603050405020304" pitchFamily="18" charset="0"/>
                <a:cs typeface="Times New Roman" panose="02020603050405020304" pitchFamily="18" charset="0"/>
              </a:rPr>
              <a:t>GEN</a:t>
            </a:r>
            <a:r>
              <a:rPr lang="en-IN" sz="4400" b="1" spc="-105" dirty="0">
                <a:latin typeface="Times New Roman" panose="02020603050405020304" pitchFamily="18" charset="0"/>
                <a:cs typeface="Times New Roman" panose="02020603050405020304" pitchFamily="18" charset="0"/>
              </a:rPr>
              <a:t>D</a:t>
            </a:r>
            <a:r>
              <a:rPr lang="en-IN" sz="4400" b="1" dirty="0">
                <a:latin typeface="Times New Roman" panose="02020603050405020304" pitchFamily="18" charset="0"/>
                <a:cs typeface="Times New Roman" panose="02020603050405020304" pitchFamily="18" charset="0"/>
              </a:rPr>
              <a:t>A</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l"/>
            <a:r>
              <a:rPr lang="en-IN" sz="2000" b="0" i="0" dirty="0">
                <a:solidFill>
                  <a:srgbClr val="222222"/>
                </a:solidFill>
                <a:effectLst/>
                <a:latin typeface="Times New Roman" panose="02020603050405020304" pitchFamily="18" charset="0"/>
                <a:cs typeface="Times New Roman" panose="02020603050405020304" pitchFamily="18" charset="0"/>
              </a:rPr>
              <a:t>Abstract</a:t>
            </a:r>
          </a:p>
          <a:p>
            <a:pPr algn="l"/>
            <a:r>
              <a:rPr lang="en-IN" sz="2000" b="0" i="0" dirty="0">
                <a:solidFill>
                  <a:srgbClr val="222222"/>
                </a:solidFill>
                <a:effectLst/>
                <a:latin typeface="Times New Roman" panose="02020603050405020304" pitchFamily="18" charset="0"/>
                <a:cs typeface="Times New Roman" panose="02020603050405020304" pitchFamily="18" charset="0"/>
              </a:rPr>
              <a:t>Introduction</a:t>
            </a:r>
            <a:endParaRPr lang="en-IN" sz="2000" dirty="0">
              <a:solidFill>
                <a:srgbClr val="222222"/>
              </a:solidFill>
              <a:latin typeface="Times New Roman" panose="02020603050405020304" pitchFamily="18" charset="0"/>
              <a:cs typeface="Times New Roman" panose="02020603050405020304" pitchFamily="18" charset="0"/>
            </a:endParaRPr>
          </a:p>
          <a:p>
            <a:pPr algn="l"/>
            <a:r>
              <a:rPr lang="en-US" altLang="en-IN" sz="2000" dirty="0">
                <a:solidFill>
                  <a:srgbClr val="222222"/>
                </a:solidFill>
                <a:latin typeface="Times New Roman" panose="02020603050405020304" pitchFamily="18" charset="0"/>
                <a:cs typeface="Times New Roman" panose="02020603050405020304" pitchFamily="18" charset="0"/>
              </a:rPr>
              <a:t>Existing System</a:t>
            </a:r>
            <a:endParaRPr lang="en-IN" sz="2000" dirty="0">
              <a:solidFill>
                <a:srgbClr val="222222"/>
              </a:solidFill>
              <a:latin typeface="Times New Roman" panose="02020603050405020304" pitchFamily="18" charset="0"/>
              <a:cs typeface="Times New Roman" panose="02020603050405020304" pitchFamily="18" charset="0"/>
            </a:endParaRPr>
          </a:p>
          <a:p>
            <a:pPr algn="l"/>
            <a:r>
              <a:rPr lang="en-IN" sz="2000" b="0" i="0" dirty="0">
                <a:solidFill>
                  <a:srgbClr val="222222"/>
                </a:solidFill>
                <a:effectLst/>
                <a:latin typeface="Times New Roman" panose="02020603050405020304" pitchFamily="18" charset="0"/>
                <a:cs typeface="Times New Roman" panose="02020603050405020304" pitchFamily="18" charset="0"/>
              </a:rPr>
              <a:t>Proposed system</a:t>
            </a:r>
          </a:p>
          <a:p>
            <a:pPr algn="l"/>
            <a:r>
              <a:rPr lang="en-IN" sz="2000" dirty="0">
                <a:solidFill>
                  <a:srgbClr val="222222"/>
                </a:solidFill>
                <a:latin typeface="Times New Roman" panose="02020603050405020304" pitchFamily="18" charset="0"/>
                <a:cs typeface="Times New Roman" panose="02020603050405020304" pitchFamily="18" charset="0"/>
              </a:rPr>
              <a:t>System Requirements</a:t>
            </a:r>
          </a:p>
          <a:p>
            <a:pPr algn="l"/>
            <a:r>
              <a:rPr lang="en-US" altLang="en-IN" sz="2000" b="0" i="0" dirty="0">
                <a:solidFill>
                  <a:srgbClr val="222222"/>
                </a:solidFill>
                <a:effectLst/>
                <a:latin typeface="Times New Roman" panose="02020603050405020304" pitchFamily="18" charset="0"/>
                <a:cs typeface="Times New Roman" panose="02020603050405020304" pitchFamily="18" charset="0"/>
              </a:rPr>
              <a:t>System Design</a:t>
            </a:r>
          </a:p>
          <a:p>
            <a:pPr algn="l"/>
            <a:r>
              <a:rPr lang="en-US" altLang="en-IN" sz="2000" b="0" i="0" dirty="0">
                <a:solidFill>
                  <a:srgbClr val="222222"/>
                </a:solidFill>
                <a:effectLst/>
                <a:latin typeface="Times New Roman" panose="02020603050405020304" pitchFamily="18" charset="0"/>
                <a:cs typeface="Times New Roman" panose="02020603050405020304" pitchFamily="18" charset="0"/>
              </a:rPr>
              <a:t>UML Diagrams</a:t>
            </a:r>
          </a:p>
          <a:p>
            <a:pPr algn="l"/>
            <a:r>
              <a:rPr lang="en-US" altLang="en-IN" sz="2000" b="0" i="0" dirty="0">
                <a:solidFill>
                  <a:srgbClr val="222222"/>
                </a:solidFill>
                <a:effectLst/>
                <a:latin typeface="Times New Roman" panose="02020603050405020304" pitchFamily="18" charset="0"/>
                <a:cs typeface="Times New Roman" panose="02020603050405020304" pitchFamily="18" charset="0"/>
              </a:rPr>
              <a:t>Implementation</a:t>
            </a:r>
          </a:p>
          <a:p>
            <a:pPr algn="l"/>
            <a:r>
              <a:rPr lang="en-US" altLang="en-IN" sz="2000" dirty="0">
                <a:solidFill>
                  <a:srgbClr val="222222"/>
                </a:solidFill>
                <a:latin typeface="Times New Roman" panose="02020603050405020304" pitchFamily="18" charset="0"/>
                <a:cs typeface="Times New Roman" panose="02020603050405020304" pitchFamily="18" charset="0"/>
              </a:rPr>
              <a:t>Conclusion</a:t>
            </a:r>
            <a:endParaRPr lang="en-US" altLang="en-IN" sz="2000" b="0" i="0" dirty="0">
              <a:solidFill>
                <a:srgbClr val="222222"/>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pPr marL="0" indent="0" algn="just">
              <a:lnSpc>
                <a:spcPct val="120000"/>
              </a:lnSpc>
              <a:buNone/>
            </a:pPr>
            <a:r>
              <a:rPr lang="en-US" dirty="0">
                <a:latin typeface="Times New Roman" panose="02020603050405020304" pitchFamily="18" charset="0"/>
                <a:cs typeface="Times New Roman" panose="02020603050405020304" pitchFamily="18" charset="0"/>
              </a:rPr>
              <a:t>This project presents the development of a web-based Missing Child Identification Portal utilizing Convolutional Neural Networks (CNN) for face recognition. The primary objective of this portal is to assist in locating missing children by allowing users to register missing cases, upload images, and compare them with a database of known missing children. The system is built using a combination of technologies including Node.js for the backend, MySQL for the database, and Python's DeepFace library for the face recognition functionality. Upon registering a new case, an email notification system is triggered, sending relevant information and the child’s photo to all registered users of the portal. The face recognition module utilizes deep learning models to match uploaded images with the existing database, providing the ability to identify a missing child. The project emphasizes the real time identification of children based on facial features while ensuring the accuracy and efficiency of the matching process. This system can significantly reduce the time required for child identification and improve the chances of reuniting missing children with their families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INTRODUCTION</a:t>
            </a:r>
          </a:p>
        </p:txBody>
      </p:sp>
      <p:sp>
        <p:nvSpPr>
          <p:cNvPr id="5" name="Content Placeholder 4"/>
          <p:cNvSpPr>
            <a:spLocks noGrp="1"/>
          </p:cNvSpPr>
          <p:nvPr>
            <p:ph idx="1"/>
          </p:nvPr>
        </p:nvSpPr>
        <p:spPr>
          <a:xfrm>
            <a:off x="838200" y="1609316"/>
            <a:ext cx="10515600" cy="4351338"/>
          </a:xfrm>
        </p:spPr>
        <p:txBody>
          <a:bodyPr>
            <a:normAutofit fontScale="95000"/>
          </a:bodyPr>
          <a:lstStyle/>
          <a:p>
            <a:pPr algn="just"/>
            <a:r>
              <a:rPr lang="en-US" sz="2000" dirty="0">
                <a:latin typeface="Times New Roman" panose="02020603050405020304" pitchFamily="18" charset="0"/>
                <a:cs typeface="Times New Roman" panose="02020603050405020304" pitchFamily="18" charset="0"/>
              </a:rPr>
              <a:t>The Missing Child Identification Portal is designed to streamline the process of reporting and identifying missing children by leveraging advanced face recognition technology. </a:t>
            </a:r>
          </a:p>
          <a:p>
            <a:pPr algn="just"/>
            <a:r>
              <a:rPr lang="en-US" sz="2000" dirty="0">
                <a:latin typeface="Times New Roman" panose="02020603050405020304" pitchFamily="18" charset="0"/>
                <a:cs typeface="Times New Roman" panose="02020603050405020304" pitchFamily="18" charset="0"/>
              </a:rPr>
              <a:t>The platform allows users to register missing child cases by uploading photographs and providing crucial information such as the child’s age, unique features, and the location they were last seen. </a:t>
            </a:r>
          </a:p>
          <a:p>
            <a:pPr algn="just"/>
            <a:r>
              <a:rPr lang="en-US" sz="2000" dirty="0">
                <a:latin typeface="Times New Roman" panose="02020603050405020304" pitchFamily="18" charset="0"/>
                <a:cs typeface="Times New Roman" panose="02020603050405020304" pitchFamily="18" charset="0"/>
              </a:rPr>
              <a:t>These images are then stored in a secure database, which law enforcement agencies and authorized personnel can access to facilitate faster identification. </a:t>
            </a:r>
          </a:p>
          <a:p>
            <a:pPr algn="just"/>
            <a:r>
              <a:rPr lang="en-US" sz="2000" dirty="0">
                <a:latin typeface="Times New Roman" panose="02020603050405020304" pitchFamily="18" charset="0"/>
                <a:cs typeface="Times New Roman" panose="02020603050405020304" pitchFamily="18" charset="0"/>
              </a:rPr>
              <a:t>The platform’s core feature, powered by DeepFace and Convolutional Neural Networks (CNN), compares newly uploaded images with those in the database, providing accurate matches if found. </a:t>
            </a:r>
          </a:p>
          <a:p>
            <a:pPr algn="just"/>
            <a:r>
              <a:rPr lang="en-US" sz="2000" dirty="0">
                <a:latin typeface="Times New Roman" panose="02020603050405020304" pitchFamily="18" charset="0"/>
                <a:cs typeface="Times New Roman" panose="02020603050405020304" pitchFamily="18" charset="0"/>
              </a:rPr>
              <a:t>In addition, parents and authorities receive real-time notifications via email when new cases are registered, ensuring swift dissemination of information.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In the current landscape, various platforms, both governmental and non-governmental, address the issue of missing children. These systems often rely on manual reporting, where parents and guardians provide information about the missing child via physical forms or basic web portals. Some platforms use static databases of registered missing children, allowing users to search by criteria such as age, location, or description. </a:t>
            </a:r>
          </a:p>
          <a:p>
            <a:pPr algn="just"/>
            <a:r>
              <a:rPr lang="en-US" sz="2000" dirty="0">
                <a:latin typeface="Times New Roman" panose="02020603050405020304" pitchFamily="18" charset="0"/>
                <a:cs typeface="Times New Roman" panose="02020603050405020304" pitchFamily="18" charset="0"/>
              </a:rPr>
              <a:t>However, these methods are limited in their ability to accurately identify children, particularly when their physical appearance has changed over time. Additionally, these systems largely depend on human effort to circulate missing person reports and lack integration with advanced technologies like facial recognition to enhance the identification process. </a:t>
            </a:r>
            <a:endParaRPr lang="en-US" sz="2000" b="0" i="0" dirty="0">
              <a:solidFill>
                <a:schemeClr val="tx1">
                  <a:lumMod val="85000"/>
                  <a:lumOff val="15000"/>
                </a:schemeClr>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DISADVANTAGES OF EXISTING SYSTEM</a:t>
            </a:r>
          </a:p>
        </p:txBody>
      </p:sp>
      <p:sp>
        <p:nvSpPr>
          <p:cNvPr id="3" name="Content Placeholder 2"/>
          <p:cNvSpPr>
            <a:spLocks noGrp="1"/>
          </p:cNvSpPr>
          <p:nvPr>
            <p:ph idx="1"/>
          </p:nvPr>
        </p:nvSpPr>
        <p:spPr>
          <a:xfrm>
            <a:off x="548149" y="1599483"/>
            <a:ext cx="10805651" cy="4516182"/>
          </a:xfrm>
        </p:spPr>
        <p:txBody>
          <a:bodyPr>
            <a:normAutofit/>
          </a:bodyPr>
          <a:lstStyle/>
          <a:p>
            <a:pPr algn="just"/>
            <a:r>
              <a:rPr lang="en-US" sz="2000" b="1" dirty="0">
                <a:latin typeface="Times New Roman" panose="02020603050405020304" pitchFamily="18" charset="0"/>
                <a:cs typeface="Times New Roman" panose="02020603050405020304" pitchFamily="18" charset="0"/>
              </a:rPr>
              <a:t>Manual Processes:</a:t>
            </a:r>
            <a:r>
              <a:rPr lang="en-US" sz="2000" dirty="0">
                <a:latin typeface="Times New Roman" panose="02020603050405020304" pitchFamily="18" charset="0"/>
                <a:cs typeface="Times New Roman" panose="02020603050405020304" pitchFamily="18" charset="0"/>
              </a:rPr>
              <a:t> Existing systems largely depend on manual data entry and search, which is time-consuming and prone to errors.</a:t>
            </a:r>
          </a:p>
          <a:p>
            <a:pPr algn="just"/>
            <a:r>
              <a:rPr lang="en-US" sz="2000" b="1" dirty="0">
                <a:latin typeface="Times New Roman" panose="02020603050405020304" pitchFamily="18" charset="0"/>
                <a:cs typeface="Times New Roman" panose="02020603050405020304" pitchFamily="18" charset="0"/>
              </a:rPr>
              <a:t>Inefficient Matching: </a:t>
            </a:r>
            <a:r>
              <a:rPr lang="en-US" sz="2000" dirty="0">
                <a:latin typeface="Times New Roman" panose="02020603050405020304" pitchFamily="18" charset="0"/>
                <a:cs typeface="Times New Roman" panose="02020603050405020304" pitchFamily="18" charset="0"/>
              </a:rPr>
              <a:t>Without automated face recognition, identification relies heavily on basic information like descriptions, which may not be accurate as time progresses.</a:t>
            </a:r>
          </a:p>
          <a:p>
            <a:pPr algn="just"/>
            <a:r>
              <a:rPr lang="en-US" sz="2000" b="1" dirty="0">
                <a:latin typeface="Times New Roman" panose="02020603050405020304" pitchFamily="18" charset="0"/>
                <a:cs typeface="Times New Roman" panose="02020603050405020304" pitchFamily="18" charset="0"/>
              </a:rPr>
              <a:t>Delayed Information Distribution:</a:t>
            </a:r>
            <a:r>
              <a:rPr lang="en-US" sz="2000" dirty="0">
                <a:latin typeface="Times New Roman" panose="02020603050405020304" pitchFamily="18" charset="0"/>
                <a:cs typeface="Times New Roman" panose="02020603050405020304" pitchFamily="18" charset="0"/>
              </a:rPr>
              <a:t> The process of circulating missing child information to the public is slow, often reliant on traditional media outlets or manual sharing, limiting the speed of search and rescue operations.</a:t>
            </a:r>
          </a:p>
          <a:p>
            <a:pPr algn="just"/>
            <a:r>
              <a:rPr lang="en-US" sz="2000" b="1" dirty="0">
                <a:latin typeface="Times New Roman" panose="02020603050405020304" pitchFamily="18" charset="0"/>
                <a:cs typeface="Times New Roman" panose="02020603050405020304" pitchFamily="18" charset="0"/>
              </a:rPr>
              <a:t>Lack of Public Involvement:</a:t>
            </a:r>
            <a:r>
              <a:rPr lang="en-US" sz="2000" dirty="0">
                <a:latin typeface="Times New Roman" panose="02020603050405020304" pitchFamily="18" charset="0"/>
                <a:cs typeface="Times New Roman" panose="02020603050405020304" pitchFamily="18" charset="0"/>
              </a:rPr>
              <a:t> Current systems do not effectively engage the broader community in the search for missing children, missing an opportunity to leverage collective effort. </a:t>
            </a:r>
          </a:p>
          <a:p>
            <a:pPr algn="just"/>
            <a:r>
              <a:rPr lang="en-US" sz="2000" b="1" dirty="0">
                <a:latin typeface="Times New Roman" panose="02020603050405020304" pitchFamily="18" charset="0"/>
                <a:cs typeface="Times New Roman" panose="02020603050405020304" pitchFamily="18" charset="0"/>
              </a:rPr>
              <a:t>Security Concerns: </a:t>
            </a:r>
            <a:r>
              <a:rPr lang="en-US" sz="2000" dirty="0">
                <a:latin typeface="Times New Roman" panose="02020603050405020304" pitchFamily="18" charset="0"/>
                <a:cs typeface="Times New Roman" panose="02020603050405020304" pitchFamily="18" charset="0"/>
              </a:rPr>
              <a:t>Many systems lack robust security, making sensitive data, such as the personal information of missing children and their families, vulnerable to breaches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i="0" dirty="0">
                <a:solidFill>
                  <a:srgbClr val="222222"/>
                </a:solidFill>
                <a:effectLst/>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5181" y="1690688"/>
            <a:ext cx="10515600" cy="4351338"/>
          </a:xfrm>
        </p:spPr>
        <p:txBody>
          <a:bodyPr>
            <a:noAutofit/>
          </a:bodyPr>
          <a:lstStyle/>
          <a:p>
            <a:pPr marL="0" indent="0" algn="just">
              <a:lnSpc>
                <a:spcPct val="120000"/>
              </a:lnSpc>
              <a:buNone/>
            </a:pPr>
            <a:r>
              <a:rPr lang="en-US" sz="1800" dirty="0">
                <a:latin typeface="Times New Roman" panose="02020603050405020304" pitchFamily="18" charset="0"/>
                <a:cs typeface="Times New Roman" panose="02020603050405020304" pitchFamily="18" charset="0"/>
              </a:rPr>
              <a:t>The Missing Child Identification Portal is designed to provide a streamlined, technology-driven solution for the identification and tracking of missing children. Unlike traditional methods that rely heavily on manual intervention and human effort, our system leverages the power of Convolutional Neural Networks (CNN) and facial recognition technology to automate the matching process, significantly increasing the efficiency and accuracy of child identification.</a:t>
            </a:r>
          </a:p>
          <a:p>
            <a:pPr marL="0" indent="0" algn="just">
              <a:lnSpc>
                <a:spcPct val="120000"/>
              </a:lnSpc>
              <a:buNone/>
            </a:pPr>
            <a:r>
              <a:rPr lang="en-US" sz="1800" b="1" dirty="0">
                <a:latin typeface="Times New Roman" panose="02020603050405020304" pitchFamily="18" charset="0"/>
                <a:cs typeface="Times New Roman" panose="02020603050405020304" pitchFamily="18" charset="0"/>
              </a:rPr>
              <a:t>Advantages of the Proposed System:</a:t>
            </a:r>
          </a:p>
          <a:p>
            <a:pPr marL="0" indent="0" algn="just">
              <a:lnSpc>
                <a:spcPct val="120000"/>
              </a:lnSpc>
              <a:buNone/>
            </a:pPr>
            <a:r>
              <a:rPr lang="en-US" sz="1800" dirty="0"/>
              <a:t> </a:t>
            </a:r>
            <a:r>
              <a:rPr lang="en-US" sz="1800" b="1" dirty="0">
                <a:latin typeface="Times New Roman" panose="02020603050405020304" pitchFamily="18" charset="0"/>
                <a:cs typeface="Times New Roman" panose="02020603050405020304" pitchFamily="18" charset="0"/>
              </a:rPr>
              <a:t>High Accuracy with CNN: </a:t>
            </a:r>
            <a:r>
              <a:rPr lang="en-US" sz="1800" dirty="0">
                <a:latin typeface="Times New Roman" panose="02020603050405020304" pitchFamily="18" charset="0"/>
                <a:cs typeface="Times New Roman" panose="02020603050405020304" pitchFamily="18" charset="0"/>
              </a:rPr>
              <a:t>By using CNN for facial recognition, the system can detect and identify faces with high accuracy, even if the child’s appearance has slightly changed due to age or other factors. This overcomes a major limitation of traditional systems that rely on static descriptions. </a:t>
            </a:r>
          </a:p>
          <a:p>
            <a:pPr marL="0" indent="0" algn="just">
              <a:lnSpc>
                <a:spcPct val="120000"/>
              </a:lnSpc>
              <a:buNone/>
            </a:pPr>
            <a:r>
              <a:rPr lang="en-US" sz="1800" b="1" dirty="0">
                <a:latin typeface="Times New Roman" panose="02020603050405020304" pitchFamily="18" charset="0"/>
                <a:cs typeface="Times New Roman" panose="02020603050405020304" pitchFamily="18" charset="0"/>
              </a:rPr>
              <a:t>Automation and Speed: </a:t>
            </a:r>
            <a:r>
              <a:rPr lang="en-US" sz="1800" dirty="0">
                <a:latin typeface="Times New Roman" panose="02020603050405020304" pitchFamily="18" charset="0"/>
                <a:cs typeface="Times New Roman" panose="02020603050405020304" pitchFamily="18" charset="0"/>
              </a:rPr>
              <a:t>The automated email notification system ensures that new cases are immediately brought to the attention of all registered users. Additionally, the face recognition process automates what would otherwise be a time-consuming manual search, allowing for faster identification. </a:t>
            </a:r>
            <a:endParaRPr lang="en-US" sz="1800" b="0" i="0" dirty="0">
              <a:solidFill>
                <a:schemeClr val="tx1">
                  <a:lumMod val="85000"/>
                  <a:lumOff val="15000"/>
                </a:schemeClr>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71895"/>
            <a:ext cx="10518058" cy="5037291"/>
          </a:xfrm>
        </p:spPr>
        <p:txBody>
          <a:bodyPr>
            <a:noAutofit/>
          </a:bodyPr>
          <a:lstStyle/>
          <a:p>
            <a:pPr marL="0" indent="0" algn="just">
              <a:buNone/>
            </a:pPr>
            <a:r>
              <a:rPr lang="en-US" sz="2000" b="1" dirty="0">
                <a:latin typeface="Times New Roman" panose="02020603050405020304" pitchFamily="18" charset="0"/>
                <a:cs typeface="Times New Roman" panose="02020603050405020304" pitchFamily="18" charset="0"/>
              </a:rPr>
              <a:t>Community Involvement:</a:t>
            </a:r>
            <a:r>
              <a:rPr lang="en-US" sz="2000" dirty="0">
                <a:latin typeface="Times New Roman" panose="02020603050405020304" pitchFamily="18" charset="0"/>
                <a:cs typeface="Times New Roman" panose="02020603050405020304" pitchFamily="18" charset="0"/>
              </a:rPr>
              <a:t> The system promotes active community participation by notifying users of new cases and allowing them to contribute to the search for missing children. This broadens the scope of the search beyond just law enforcement and family members. </a:t>
            </a:r>
            <a:endParaRPr lang="en-US" sz="2000" i="0" dirty="0">
              <a:solidFill>
                <a:schemeClr val="tx1">
                  <a:lumMod val="85000"/>
                  <a:lumOff val="15000"/>
                </a:schemeClr>
              </a:solidFill>
              <a:effectLst/>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Scalability and Flexibility:</a:t>
            </a:r>
            <a:r>
              <a:rPr lang="en-US" sz="2000" dirty="0">
                <a:latin typeface="Times New Roman" panose="02020603050405020304" pitchFamily="18" charset="0"/>
                <a:cs typeface="Times New Roman" panose="02020603050405020304" pitchFamily="18" charset="0"/>
              </a:rPr>
              <a:t> The use of modern web technologies such as Node.js and Express.js ensures that the system is highly scalable. It can handle a growing number of users and cases without compromising performance. The modular structure of the backend also allows for easy integration with other systems, such as law enforcement databases or social media platforms for broader reach. </a:t>
            </a:r>
          </a:p>
          <a:p>
            <a:pPr marL="0" indent="0" algn="just">
              <a:buNone/>
            </a:pPr>
            <a:r>
              <a:rPr lang="en-US" sz="2000" b="1" dirty="0">
                <a:latin typeface="Times New Roman" panose="02020603050405020304" pitchFamily="18" charset="0"/>
                <a:cs typeface="Times New Roman" panose="02020603050405020304" pitchFamily="18" charset="0"/>
              </a:rPr>
              <a:t>Security and Privacy:</a:t>
            </a:r>
            <a:r>
              <a:rPr lang="en-US" sz="2000" dirty="0">
                <a:latin typeface="Times New Roman" panose="02020603050405020304" pitchFamily="18" charset="0"/>
                <a:cs typeface="Times New Roman" panose="02020603050405020304" pitchFamily="18" charset="0"/>
              </a:rPr>
              <a:t> Data security is a critical aspect of the system. The personal details of children and their families are stored securely, with restricted access to sensitive data. The system uses session management and encryption techniques to safeguard user data from unauthorized access. </a:t>
            </a:r>
          </a:p>
          <a:p>
            <a:pPr marL="0" indent="0" algn="just">
              <a:buNone/>
            </a:pPr>
            <a:r>
              <a:rPr lang="en-US" sz="2000" b="1" dirty="0">
                <a:latin typeface="Times New Roman" panose="02020603050405020304" pitchFamily="18" charset="0"/>
                <a:cs typeface="Times New Roman" panose="02020603050405020304" pitchFamily="18" charset="0"/>
              </a:rPr>
              <a:t>Proactive Identification:</a:t>
            </a:r>
            <a:r>
              <a:rPr lang="en-US" sz="2000" dirty="0">
                <a:latin typeface="Times New Roman" panose="02020603050405020304" pitchFamily="18" charset="0"/>
                <a:cs typeface="Times New Roman" panose="02020603050405020304" pitchFamily="18" charset="0"/>
              </a:rPr>
              <a:t> With facial recognition at its core, the system doesn't just wait for people to recognize and report children—it actively compares uploaded images against the database, increasing the chances of locating a child based on sighting reports.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p:txBody>
          <a:bodyPr>
            <a:normAutofit fontScale="55000" lnSpcReduction="20000"/>
          </a:bodyPr>
          <a:lstStyle/>
          <a:p>
            <a:r>
              <a:rPr lang="en-IN" sz="3800" b="1" dirty="0">
                <a:latin typeface="Times New Roman" panose="02020603050405020304" pitchFamily="18" charset="0"/>
                <a:cs typeface="Times New Roman" panose="02020603050405020304" pitchFamily="18" charset="0"/>
              </a:rPr>
              <a:t>Software Requirements</a:t>
            </a:r>
          </a:p>
          <a:p>
            <a:pPr>
              <a:buFont typeface="+mj-lt"/>
              <a:buAutoNum type="arabicPeriod"/>
            </a:pPr>
            <a:r>
              <a:rPr lang="en-IN" sz="2400" b="1" dirty="0">
                <a:latin typeface="Times New Roman" panose="02020603050405020304" pitchFamily="18" charset="0"/>
                <a:cs typeface="Times New Roman" panose="02020603050405020304" pitchFamily="18" charset="0"/>
              </a:rPr>
              <a:t>Development Tools</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React.js, Angular, or HTML/CSS/JavaScript for user interfaces.</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Django, Flask, or Node.js for server-side development.</a:t>
            </a:r>
          </a:p>
          <a:p>
            <a:pPr>
              <a:buFont typeface="+mj-lt"/>
              <a:buAutoNum type="arabicPeriod"/>
            </a:pPr>
            <a:r>
              <a:rPr lang="en-IN" sz="2400" b="1" dirty="0">
                <a:latin typeface="Times New Roman" panose="02020603050405020304" pitchFamily="18" charset="0"/>
                <a:cs typeface="Times New Roman" panose="02020603050405020304" pitchFamily="18" charset="0"/>
              </a:rPr>
              <a:t>Face Recognition Technology</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err="1">
                <a:latin typeface="Times New Roman" panose="02020603050405020304" pitchFamily="18" charset="0"/>
                <a:cs typeface="Times New Roman" panose="02020603050405020304" pitchFamily="18" charset="0"/>
              </a:rPr>
              <a:t>DeepFace</a:t>
            </a:r>
            <a:r>
              <a:rPr lang="en-IN" b="1" dirty="0">
                <a:latin typeface="Times New Roman" panose="02020603050405020304" pitchFamily="18" charset="0"/>
                <a:cs typeface="Times New Roman" panose="02020603050405020304" pitchFamily="18" charset="0"/>
              </a:rPr>
              <a:t> Library</a:t>
            </a:r>
            <a:r>
              <a:rPr lang="en-IN" dirty="0">
                <a:latin typeface="Times New Roman" panose="02020603050405020304" pitchFamily="18" charset="0"/>
                <a:cs typeface="Times New Roman" panose="02020603050405020304" pitchFamily="18" charset="0"/>
              </a:rPr>
              <a:t>: For face recognition and feature extraction.</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TensorFlow/</a:t>
            </a:r>
            <a:r>
              <a:rPr lang="en-IN" b="1"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For building and deploying Convolutional Neural Networks (CNN).</a:t>
            </a:r>
          </a:p>
          <a:p>
            <a:pPr>
              <a:buFont typeface="+mj-lt"/>
              <a:buAutoNum type="arabicPeriod"/>
            </a:pPr>
            <a:r>
              <a:rPr lang="en-IN" sz="2400" b="1" dirty="0">
                <a:latin typeface="Times New Roman" panose="02020603050405020304" pitchFamily="18" charset="0"/>
                <a:cs typeface="Times New Roman" panose="02020603050405020304" pitchFamily="18" charset="0"/>
              </a:rPr>
              <a:t>Database</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SQL</a:t>
            </a:r>
            <a:r>
              <a:rPr lang="en-IN" dirty="0">
                <a:latin typeface="Times New Roman" panose="02020603050405020304" pitchFamily="18" charset="0"/>
                <a:cs typeface="Times New Roman" panose="02020603050405020304" pitchFamily="18" charset="0"/>
              </a:rPr>
              <a:t>: MySQL/PostgreSQL for structured data storage.</a:t>
            </a:r>
          </a:p>
          <a:p>
            <a:pPr>
              <a:buFont typeface="+mj-lt"/>
              <a:buAutoNum type="arabicPeriod"/>
            </a:pPr>
            <a:r>
              <a:rPr lang="en-IN" sz="2400" b="1" dirty="0">
                <a:latin typeface="Times New Roman" panose="02020603050405020304" pitchFamily="18" charset="0"/>
                <a:cs typeface="Times New Roman" panose="02020603050405020304" pitchFamily="18" charset="0"/>
              </a:rPr>
              <a:t>Hosting and Cloud Services</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AWS/GCP/Azure</a:t>
            </a:r>
            <a:r>
              <a:rPr lang="en-IN" dirty="0">
                <a:latin typeface="Times New Roman" panose="02020603050405020304" pitchFamily="18" charset="0"/>
                <a:cs typeface="Times New Roman" panose="02020603050405020304" pitchFamily="18" charset="0"/>
              </a:rPr>
              <a:t>: For hosting the application, database, and storage.</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AWS S3 or Google Cloud Storage</a:t>
            </a:r>
            <a:r>
              <a:rPr lang="en-IN" dirty="0">
                <a:latin typeface="Times New Roman" panose="02020603050405020304" pitchFamily="18" charset="0"/>
                <a:cs typeface="Times New Roman" panose="02020603050405020304" pitchFamily="18" charset="0"/>
              </a:rPr>
              <a:t>: To store images securely.</a:t>
            </a:r>
          </a:p>
          <a:p>
            <a:pPr>
              <a:buFont typeface="+mj-lt"/>
              <a:buAutoNum type="arabicPeriod"/>
            </a:pPr>
            <a:r>
              <a:rPr lang="en-IN" sz="2400" b="1" dirty="0">
                <a:latin typeface="Times New Roman" panose="02020603050405020304" pitchFamily="18" charset="0"/>
                <a:cs typeface="Times New Roman" panose="02020603050405020304" pitchFamily="18" charset="0"/>
              </a:rPr>
              <a:t>APIs and Tools</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RESTful APIs</a:t>
            </a:r>
            <a:r>
              <a:rPr lang="en-IN" dirty="0">
                <a:latin typeface="Times New Roman" panose="02020603050405020304" pitchFamily="18" charset="0"/>
                <a:cs typeface="Times New Roman" panose="02020603050405020304" pitchFamily="18" charset="0"/>
              </a:rPr>
              <a:t>: For communication between frontend and backend.</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OpenCV</a:t>
            </a:r>
            <a:r>
              <a:rPr lang="en-IN" dirty="0">
                <a:latin typeface="Times New Roman" panose="02020603050405020304" pitchFamily="18" charset="0"/>
                <a:cs typeface="Times New Roman" panose="02020603050405020304" pitchFamily="18" charset="0"/>
              </a:rPr>
              <a:t>: For pre-processing images before analysis.</a:t>
            </a:r>
          </a:p>
          <a:p>
            <a:pPr>
              <a:buFont typeface="+mj-lt"/>
              <a:buAutoNum type="arabicPeriod"/>
            </a:pPr>
            <a:r>
              <a:rPr lang="en-IN" sz="2400" b="1" dirty="0">
                <a:latin typeface="Times New Roman" panose="02020603050405020304" pitchFamily="18" charset="0"/>
                <a:cs typeface="Times New Roman" panose="02020603050405020304" pitchFamily="18" charset="0"/>
              </a:rPr>
              <a:t>Other Tools</a:t>
            </a:r>
            <a:r>
              <a:rPr lang="en-IN" sz="24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GitHub/GitLab</a:t>
            </a:r>
            <a:r>
              <a:rPr lang="en-IN" dirty="0">
                <a:latin typeface="Times New Roman" panose="02020603050405020304" pitchFamily="18" charset="0"/>
                <a:cs typeface="Times New Roman" panose="02020603050405020304" pitchFamily="18" charset="0"/>
              </a:rPr>
              <a:t>: For version control and collaboration.</a:t>
            </a:r>
          </a:p>
          <a:p>
            <a:pPr marL="742950" lvl="1" indent="-285750">
              <a:buFont typeface="+mj-lt"/>
              <a:buAutoNum type="arabicPeriod"/>
            </a:pPr>
            <a:r>
              <a:rPr lang="en-IN" b="1" dirty="0">
                <a:latin typeface="Times New Roman" panose="02020603050405020304" pitchFamily="18" charset="0"/>
                <a:cs typeface="Times New Roman" panose="02020603050405020304" pitchFamily="18" charset="0"/>
              </a:rPr>
              <a:t>IDE</a:t>
            </a:r>
            <a:r>
              <a:rPr lang="en-IN" dirty="0">
                <a:latin typeface="Times New Roman" panose="02020603050405020304" pitchFamily="18" charset="0"/>
                <a:cs typeface="Times New Roman" panose="02020603050405020304" pitchFamily="18" charset="0"/>
              </a:rPr>
              <a:t>: Visual Studio Code, PyCharm, or IntelliJ for coding.</a:t>
            </a:r>
          </a:p>
          <a:p>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83771"/>
            <a:ext cx="10515600" cy="5393192"/>
          </a:xfrm>
        </p:spPr>
        <p:txBody>
          <a:bodyPr>
            <a:normAutofit/>
          </a:bodyPr>
          <a:lstStyle/>
          <a:p>
            <a:r>
              <a:rPr lang="en-IN" sz="2100" b="1" dirty="0">
                <a:latin typeface="Times New Roman" panose="02020603050405020304" pitchFamily="18" charset="0"/>
                <a:cs typeface="Times New Roman" panose="02020603050405020304" pitchFamily="18" charset="0"/>
              </a:rPr>
              <a:t>Hardware Requirements</a:t>
            </a:r>
          </a:p>
          <a:p>
            <a:endParaRPr lang="en-IN" sz="1300" b="1" dirty="0">
              <a:latin typeface="Times New Roman" panose="02020603050405020304" pitchFamily="18" charset="0"/>
              <a:cs typeface="Times New Roman" panose="02020603050405020304" pitchFamily="18" charset="0"/>
            </a:endParaRPr>
          </a:p>
          <a:p>
            <a:pPr>
              <a:buFont typeface="+mj-lt"/>
              <a:buAutoNum type="arabicPeriod"/>
            </a:pPr>
            <a:r>
              <a:rPr lang="en-IN" sz="1300" b="1" dirty="0">
                <a:latin typeface="Times New Roman" panose="02020603050405020304" pitchFamily="18" charset="0"/>
                <a:cs typeface="Times New Roman" panose="02020603050405020304" pitchFamily="18" charset="0"/>
              </a:rPr>
              <a:t>Development Environment</a:t>
            </a:r>
            <a:r>
              <a:rPr lang="en-IN" sz="13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Processor</a:t>
            </a:r>
            <a:r>
              <a:rPr lang="en-IN" sz="1300" dirty="0">
                <a:latin typeface="Times New Roman" panose="02020603050405020304" pitchFamily="18" charset="0"/>
                <a:cs typeface="Times New Roman" panose="02020603050405020304" pitchFamily="18" charset="0"/>
              </a:rPr>
              <a:t>: Intel i5/i7 or AMD </a:t>
            </a:r>
            <a:r>
              <a:rPr lang="en-IN" sz="1300" dirty="0" err="1">
                <a:latin typeface="Times New Roman" panose="02020603050405020304" pitchFamily="18" charset="0"/>
                <a:cs typeface="Times New Roman" panose="02020603050405020304" pitchFamily="18" charset="0"/>
              </a:rPr>
              <a:t>Ryzen</a:t>
            </a:r>
            <a:r>
              <a:rPr lang="en-IN" sz="1300" dirty="0">
                <a:latin typeface="Times New Roman" panose="02020603050405020304" pitchFamily="18" charset="0"/>
                <a:cs typeface="Times New Roman" panose="02020603050405020304" pitchFamily="18" charset="0"/>
              </a:rPr>
              <a:t> 5/7 (or equivalent).</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RAM</a:t>
            </a:r>
            <a:r>
              <a:rPr lang="en-IN" sz="1300" dirty="0">
                <a:latin typeface="Times New Roman" panose="02020603050405020304" pitchFamily="18" charset="0"/>
                <a:cs typeface="Times New Roman" panose="02020603050405020304" pitchFamily="18" charset="0"/>
              </a:rPr>
              <a:t>: 16GB (minimum) for smooth development and testing.</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Storage</a:t>
            </a:r>
            <a:r>
              <a:rPr lang="en-IN" sz="1300" dirty="0">
                <a:latin typeface="Times New Roman" panose="02020603050405020304" pitchFamily="18" charset="0"/>
                <a:cs typeface="Times New Roman" panose="02020603050405020304" pitchFamily="18" charset="0"/>
              </a:rPr>
              <a:t>: At least 512GB SSD for storing libraries, datasets, and application files.</a:t>
            </a:r>
          </a:p>
          <a:p>
            <a:pPr marL="742950" lvl="1" indent="-285750">
              <a:buFont typeface="+mj-lt"/>
              <a:buAutoNum type="arabicPeriod"/>
            </a:pPr>
            <a:endParaRPr lang="en-IN" sz="1300" dirty="0">
              <a:latin typeface="Times New Roman" panose="02020603050405020304" pitchFamily="18" charset="0"/>
              <a:cs typeface="Times New Roman" panose="02020603050405020304" pitchFamily="18" charset="0"/>
            </a:endParaRPr>
          </a:p>
          <a:p>
            <a:pPr>
              <a:buFont typeface="+mj-lt"/>
              <a:buAutoNum type="arabicPeriod"/>
            </a:pPr>
            <a:r>
              <a:rPr lang="en-IN" sz="1300" b="1" dirty="0">
                <a:latin typeface="Times New Roman" panose="02020603050405020304" pitchFamily="18" charset="0"/>
                <a:cs typeface="Times New Roman" panose="02020603050405020304" pitchFamily="18" charset="0"/>
              </a:rPr>
              <a:t>Server Hardware</a:t>
            </a:r>
            <a:r>
              <a:rPr lang="en-IN" sz="13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Processor</a:t>
            </a:r>
            <a:r>
              <a:rPr lang="en-IN" sz="1300" dirty="0">
                <a:latin typeface="Times New Roman" panose="02020603050405020304" pitchFamily="18" charset="0"/>
                <a:cs typeface="Times New Roman" panose="02020603050405020304" pitchFamily="18" charset="0"/>
              </a:rPr>
              <a:t>: Multi-core CPUs (e.g., Intel Xeon or AMD EPYC).</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RAM</a:t>
            </a:r>
            <a:r>
              <a:rPr lang="en-IN" sz="1300" dirty="0">
                <a:latin typeface="Times New Roman" panose="02020603050405020304" pitchFamily="18" charset="0"/>
                <a:cs typeface="Times New Roman" panose="02020603050405020304" pitchFamily="18" charset="0"/>
              </a:rPr>
              <a:t>: 32GB or higher for handling large datasets and concurrent requests.</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Storage</a:t>
            </a:r>
            <a:r>
              <a:rPr lang="en-IN" sz="1300" dirty="0">
                <a:latin typeface="Times New Roman" panose="02020603050405020304" pitchFamily="18" charset="0"/>
                <a:cs typeface="Times New Roman" panose="02020603050405020304" pitchFamily="18" charset="0"/>
              </a:rPr>
              <a:t>: High-capacity HDDs/SSDs (2TB or more) for storing images and metadata.</a:t>
            </a:r>
          </a:p>
          <a:p>
            <a:pPr marL="742950" lvl="1" indent="-285750">
              <a:buFont typeface="+mj-lt"/>
              <a:buAutoNum type="arabicPeriod"/>
            </a:pPr>
            <a:r>
              <a:rPr lang="en-IN" sz="1300" b="1" dirty="0">
                <a:latin typeface="Times New Roman" panose="02020603050405020304" pitchFamily="18" charset="0"/>
                <a:cs typeface="Times New Roman" panose="02020603050405020304" pitchFamily="18" charset="0"/>
              </a:rPr>
              <a:t>GPU</a:t>
            </a:r>
            <a:r>
              <a:rPr lang="en-IN" sz="1300" dirty="0">
                <a:latin typeface="Times New Roman" panose="02020603050405020304" pitchFamily="18" charset="0"/>
                <a:cs typeface="Times New Roman" panose="02020603050405020304" pitchFamily="18" charset="0"/>
              </a:rPr>
              <a:t>: NVIDIA GPUs (e.g., NVIDIA Tesla, RTX 3080) for faster training and image processing.</a:t>
            </a:r>
          </a:p>
          <a:p>
            <a:pPr marL="742950" lvl="1" indent="-285750">
              <a:buFont typeface="+mj-lt"/>
              <a:buAutoNum type="arabicPeriod"/>
            </a:pPr>
            <a:endParaRPr lang="en-IN" sz="1300" dirty="0">
              <a:latin typeface="Times New Roman" panose="02020603050405020304" pitchFamily="18" charset="0"/>
              <a:cs typeface="Times New Roman" panose="02020603050405020304" pitchFamily="18" charset="0"/>
            </a:endParaRPr>
          </a:p>
          <a:p>
            <a:pPr>
              <a:buFont typeface="+mj-lt"/>
              <a:buAutoNum type="arabicPeriod"/>
            </a:pPr>
            <a:r>
              <a:rPr lang="en-IN" sz="1300" b="1" dirty="0">
                <a:latin typeface="Times New Roman" panose="02020603050405020304" pitchFamily="18" charset="0"/>
                <a:cs typeface="Times New Roman" panose="02020603050405020304" pitchFamily="18" charset="0"/>
              </a:rPr>
              <a:t>Network and Connectivity</a:t>
            </a:r>
            <a:r>
              <a:rPr lang="en-IN" sz="13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sz="1300" dirty="0">
                <a:latin typeface="Times New Roman" panose="02020603050405020304" pitchFamily="18" charset="0"/>
                <a:cs typeface="Times New Roman" panose="02020603050405020304" pitchFamily="18" charset="0"/>
              </a:rPr>
              <a:t>High-speed internet for real-time communication between users and servers.</a:t>
            </a:r>
          </a:p>
          <a:p>
            <a:pPr marL="742950" lvl="1" indent="-285750">
              <a:buFont typeface="+mj-lt"/>
              <a:buAutoNum type="arabicPeriod"/>
            </a:pPr>
            <a:endParaRPr lang="en-IN" sz="1300" dirty="0">
              <a:latin typeface="Times New Roman" panose="02020603050405020304" pitchFamily="18" charset="0"/>
              <a:cs typeface="Times New Roman" panose="02020603050405020304" pitchFamily="18" charset="0"/>
            </a:endParaRPr>
          </a:p>
          <a:p>
            <a:pPr>
              <a:buFont typeface="+mj-lt"/>
              <a:buAutoNum type="arabicPeriod"/>
            </a:pPr>
            <a:r>
              <a:rPr lang="en-IN" sz="1300" b="1" dirty="0">
                <a:latin typeface="Times New Roman" panose="02020603050405020304" pitchFamily="18" charset="0"/>
                <a:cs typeface="Times New Roman" panose="02020603050405020304" pitchFamily="18" charset="0"/>
              </a:rPr>
              <a:t>User Hardware</a:t>
            </a:r>
            <a:r>
              <a:rPr lang="en-IN" sz="1300" dirty="0">
                <a:latin typeface="Times New Roman" panose="02020603050405020304" pitchFamily="18" charset="0"/>
                <a:cs typeface="Times New Roman" panose="02020603050405020304" pitchFamily="18" charset="0"/>
              </a:rPr>
              <a:t>:</a:t>
            </a:r>
          </a:p>
          <a:p>
            <a:pPr marL="742950" lvl="1" indent="-285750">
              <a:buFont typeface="+mj-lt"/>
              <a:buAutoNum type="arabicPeriod"/>
            </a:pPr>
            <a:r>
              <a:rPr lang="en-IN" sz="1300" dirty="0">
                <a:latin typeface="Times New Roman" panose="02020603050405020304" pitchFamily="18" charset="0"/>
                <a:cs typeface="Times New Roman" panose="02020603050405020304" pitchFamily="18" charset="0"/>
              </a:rPr>
              <a:t>Any device (PCs, smartphones, tablets) with internet connectivity and a web browser to access the portal</a:t>
            </a:r>
            <a:r>
              <a:rPr lang="en-IN" sz="1700"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latin typeface="Times New Roman" panose="02020603050405020304" pitchFamily="18" charset="0"/>
                <a:cs typeface="Times New Roman" panose="02020603050405020304" pitchFamily="18" charset="0"/>
              </a:rPr>
              <a:t>SYSTEM DESIGN</a:t>
            </a:r>
            <a:br>
              <a:rPr lang="en-US" dirty="0">
                <a:latin typeface="Times New Roman" panose="02020603050405020304" pitchFamily="18" charset="0"/>
                <a:cs typeface="Times New Roman" panose="02020603050405020304" pitchFamily="18" charset="0"/>
              </a:rPr>
            </a:br>
            <a:br>
              <a:rPr lang="en-US" dirty="0"/>
            </a:br>
            <a:br>
              <a:rPr lang="en-US" dirty="0"/>
            </a:br>
            <a:endParaRPr lang="en-US" sz="2665" dirty="0"/>
          </a:p>
        </p:txBody>
      </p:sp>
      <p:pic>
        <p:nvPicPr>
          <p:cNvPr id="7" name="Picture 6">
            <a:extLst>
              <a:ext uri="{FF2B5EF4-FFF2-40B4-BE49-F238E27FC236}">
                <a16:creationId xmlns:a16="http://schemas.microsoft.com/office/drawing/2014/main" id="{B80FD89C-59A5-13CE-A602-7656B8726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675" y="1070595"/>
            <a:ext cx="11791406" cy="49187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37E57-4C8B-3CCE-E239-62AA6233333C}"/>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CLASS DIAGRAM</a:t>
            </a:r>
            <a:r>
              <a:rPr lang="en-US" sz="2800" b="1" dirty="0"/>
              <a:t>:</a:t>
            </a:r>
            <a:endParaRPr lang="en-IN" sz="2800" b="1" dirty="0"/>
          </a:p>
        </p:txBody>
      </p:sp>
      <p:pic>
        <p:nvPicPr>
          <p:cNvPr id="6" name="Content Placeholder 5" descr="WhatsApp Image 2025-02-08 at 10.23.06 AM"/>
          <p:cNvPicPr>
            <a:picLocks noGrp="1" noChangeAspect="1"/>
          </p:cNvPicPr>
          <p:nvPr>
            <p:ph idx="1"/>
          </p:nvPr>
        </p:nvPicPr>
        <p:blipFill>
          <a:blip r:embed="rId2"/>
          <a:stretch>
            <a:fillRect/>
          </a:stretch>
        </p:blipFill>
        <p:spPr>
          <a:xfrm>
            <a:off x="2238103" y="1816917"/>
            <a:ext cx="7053943" cy="4351338"/>
          </a:xfrm>
          <a:prstGeom prst="rect">
            <a:avLst/>
          </a:prstGeom>
        </p:spPr>
      </p:pic>
    </p:spTree>
    <p:extLst>
      <p:ext uri="{BB962C8B-B14F-4D97-AF65-F5344CB8AC3E}">
        <p14:creationId xmlns:p14="http://schemas.microsoft.com/office/powerpoint/2010/main" val="1647042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005"/>
            <a:ext cx="10515600" cy="1089025"/>
          </a:xfrm>
        </p:spPr>
        <p:txBody>
          <a:bodyPr>
            <a:normAutofit/>
          </a:bodyPr>
          <a:lstStyle/>
          <a:p>
            <a:r>
              <a:rPr lang="en-US" sz="2800" b="1" dirty="0">
                <a:latin typeface="Times New Roman" panose="02020603050405020304" pitchFamily="18" charset="0"/>
                <a:cs typeface="Times New Roman" panose="02020603050405020304" pitchFamily="18" charset="0"/>
              </a:rPr>
              <a:t>USE CASE DIAGRAM</a:t>
            </a:r>
            <a:r>
              <a:rPr lang="en-US" sz="3200" dirty="0"/>
              <a:t> :</a:t>
            </a:r>
          </a:p>
        </p:txBody>
      </p:sp>
      <p:pic>
        <p:nvPicPr>
          <p:cNvPr id="4" name="Content Placeholder 3" descr="WhatsApp Image 2025-02-08 at 10.26.58 AM"/>
          <p:cNvPicPr>
            <a:picLocks noGrp="1" noChangeAspect="1"/>
          </p:cNvPicPr>
          <p:nvPr>
            <p:ph idx="1"/>
          </p:nvPr>
        </p:nvPicPr>
        <p:blipFill>
          <a:blip r:embed="rId2"/>
          <a:stretch>
            <a:fillRect/>
          </a:stretch>
        </p:blipFill>
        <p:spPr>
          <a:xfrm>
            <a:off x="915670" y="1528445"/>
            <a:ext cx="9756775" cy="458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a:latin typeface="Times New Roman" panose="02020603050405020304" pitchFamily="18" charset="0"/>
                <a:cs typeface="Times New Roman" panose="02020603050405020304" pitchFamily="18" charset="0"/>
              </a:rPr>
              <a:t>SEQUENCE DIAGRAM</a:t>
            </a:r>
          </a:p>
        </p:txBody>
      </p:sp>
      <p:pic>
        <p:nvPicPr>
          <p:cNvPr id="6" name="Content Placeholder 5" descr="WhatsApp Image 2025-02-08 at 10.33.40 AM"/>
          <p:cNvPicPr>
            <a:picLocks noGrp="1" noChangeAspect="1"/>
          </p:cNvPicPr>
          <p:nvPr>
            <p:ph idx="1"/>
          </p:nvPr>
        </p:nvPicPr>
        <p:blipFill>
          <a:blip r:embed="rId2"/>
          <a:stretch>
            <a:fillRect/>
          </a:stretch>
        </p:blipFill>
        <p:spPr>
          <a:xfrm>
            <a:off x="838200" y="1550670"/>
            <a:ext cx="10143490" cy="488251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latin typeface="Times New Roman" panose="02020603050405020304" pitchFamily="18" charset="0"/>
                <a:cs typeface="Times New Roman" panose="02020603050405020304" pitchFamily="18" charset="0"/>
              </a:rPr>
              <a:t>ACTIVITY DIAGRAM</a:t>
            </a:r>
          </a:p>
        </p:txBody>
      </p:sp>
      <p:pic>
        <p:nvPicPr>
          <p:cNvPr id="3" name="Picture 2"/>
          <p:cNvPicPr>
            <a:picLocks noChangeAspect="1"/>
          </p:cNvPicPr>
          <p:nvPr/>
        </p:nvPicPr>
        <p:blipFill>
          <a:blip r:embed="rId2"/>
          <a:stretch>
            <a:fillRect/>
          </a:stretch>
        </p:blipFill>
        <p:spPr>
          <a:xfrm>
            <a:off x="1035050" y="1421765"/>
            <a:ext cx="9341485" cy="52673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BB590-4C9B-6923-8A2F-B3076F24DB68}"/>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Implementation</a:t>
            </a:r>
            <a:endParaRPr lang="en-IN" sz="28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B1E7857-C523-7662-A9B3-F439CEB0CA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5954" y="1625328"/>
            <a:ext cx="8934995" cy="5381512"/>
          </a:xfrm>
        </p:spPr>
      </p:pic>
    </p:spTree>
    <p:extLst>
      <p:ext uri="{BB962C8B-B14F-4D97-AF65-F5344CB8AC3E}">
        <p14:creationId xmlns:p14="http://schemas.microsoft.com/office/powerpoint/2010/main" val="2557233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E1385-7062-7C99-F74F-342C132F9649}"/>
              </a:ext>
            </a:extLst>
          </p:cNvPr>
          <p:cNvSpPr>
            <a:spLocks noGrp="1"/>
          </p:cNvSpPr>
          <p:nvPr>
            <p:ph type="title"/>
          </p:nvPr>
        </p:nvSpPr>
        <p:spPr>
          <a:xfrm>
            <a:off x="838200" y="190953"/>
            <a:ext cx="10515600" cy="1325563"/>
          </a:xfrm>
        </p:spPr>
        <p:txBody>
          <a:bodyPr>
            <a:normAutofit/>
          </a:bodyPr>
          <a:lstStyle/>
          <a:p>
            <a:r>
              <a:rPr lang="en-US" sz="2800" b="1" dirty="0">
                <a:latin typeface="Times New Roman" panose="02020603050405020304" pitchFamily="18" charset="0"/>
                <a:cs typeface="Times New Roman" panose="02020603050405020304" pitchFamily="18" charset="0"/>
              </a:rPr>
              <a:t>Result</a:t>
            </a:r>
            <a:endParaRPr lang="en-IN" sz="28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DF8816B-E098-707E-D388-392EE49234B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466884" y="1355363"/>
            <a:ext cx="6962140" cy="4351338"/>
          </a:xfrm>
        </p:spPr>
      </p:pic>
      <p:sp>
        <p:nvSpPr>
          <p:cNvPr id="6" name="TextBox 5">
            <a:extLst>
              <a:ext uri="{FF2B5EF4-FFF2-40B4-BE49-F238E27FC236}">
                <a16:creationId xmlns:a16="http://schemas.microsoft.com/office/drawing/2014/main" id="{BBBE6380-8768-1B27-59D7-CB95547406B6}"/>
              </a:ext>
            </a:extLst>
          </p:cNvPr>
          <p:cNvSpPr txBox="1"/>
          <p:nvPr/>
        </p:nvSpPr>
        <p:spPr>
          <a:xfrm>
            <a:off x="3239589" y="5834743"/>
            <a:ext cx="5538651"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Home page</a:t>
            </a:r>
          </a:p>
        </p:txBody>
      </p:sp>
    </p:spTree>
    <p:extLst>
      <p:ext uri="{BB962C8B-B14F-4D97-AF65-F5344CB8AC3E}">
        <p14:creationId xmlns:p14="http://schemas.microsoft.com/office/powerpoint/2010/main" val="220684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483A8F-8663-2DFD-CDBB-7199F1B1515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92415" y="571591"/>
            <a:ext cx="7304133" cy="4565084"/>
          </a:xfrm>
        </p:spPr>
      </p:pic>
    </p:spTree>
    <p:extLst>
      <p:ext uri="{BB962C8B-B14F-4D97-AF65-F5344CB8AC3E}">
        <p14:creationId xmlns:p14="http://schemas.microsoft.com/office/powerpoint/2010/main" val="296904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9B7CF5B8-0F20-CA4C-0517-49DDAF1753D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310130" y="841557"/>
            <a:ext cx="6962140" cy="4351338"/>
          </a:xfrm>
        </p:spPr>
      </p:pic>
    </p:spTree>
    <p:extLst>
      <p:ext uri="{BB962C8B-B14F-4D97-AF65-F5344CB8AC3E}">
        <p14:creationId xmlns:p14="http://schemas.microsoft.com/office/powerpoint/2010/main" val="1933675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4E05-94BC-328D-9279-39EF3628994C}"/>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5CE0D0-028F-8F18-C0B0-C0868E69E6A3}"/>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	The missing child identification system implemented in this project serves as a comprehensive solution for addressing the critical problem of child abduction and disappearance. By integrating face recognition technology with a user-friendly portal, the system enables parents and authorities to register missing children and identify them effectively using CNN-based facial recognition models. This system streamlines the process of locating missing children and significantly improves the chances of successful reunification with their families. </a:t>
            </a:r>
          </a:p>
          <a:p>
            <a:pPr marL="0" indent="0">
              <a:buNone/>
            </a:pPr>
            <a:r>
              <a:rPr lang="en-US" sz="2000" dirty="0">
                <a:latin typeface="Times New Roman" panose="02020603050405020304" pitchFamily="18" charset="0"/>
                <a:cs typeface="Times New Roman" panose="02020603050405020304" pitchFamily="18" charset="0"/>
              </a:rPr>
              <a:t>	In addition, the automated email notification feature ensures that the registered users are informed about new cases, thereby increasing public participation and awareness. With the successful deployment of the facial recognition algorithm and efficient backend management, the system demonstrates its ability to assist in real-world scenarios, offering a scalable and adaptable solution for missing child recovery. This project is an essential step toward leveraging technology for societal safety and enhancing collaboration between citizens, law enforcement, and technological systems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9896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US" sz="8000" dirty="0">
              <a:latin typeface="Times New Roman" panose="02020603050405020304" pitchFamily="18" charset="0"/>
              <a:cs typeface="Times New Roman" panose="02020603050405020304" pitchFamily="18" charset="0"/>
            </a:endParaRPr>
          </a:p>
          <a:p>
            <a:pPr marL="0" indent="0" algn="ctr">
              <a:buNone/>
            </a:pPr>
            <a:r>
              <a:rPr lang="en-US" sz="8000" dirty="0">
                <a:latin typeface="Times New Roman" panose="02020603050405020304" pitchFamily="18" charset="0"/>
                <a:cs typeface="Times New Roman" panose="02020603050405020304" pitchFamily="18" charset="0"/>
              </a:rPr>
              <a:t>THANKYOU</a:t>
            </a:r>
            <a:endParaRPr lang="en-IN" sz="8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1563</Words>
  <Application>Microsoft Office PowerPoint</Application>
  <PresentationFormat>Widescreen</PresentationFormat>
  <Paragraphs>96</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  MALLA REDDY COLLEGE OF ENGINEERING &amp; TECHNOLOGY  (Autonomous Institution – UGC, Govt. of India)   DEPARTMENT OF INFORMATION TECHNOLOGY</vt:lpstr>
      <vt:lpstr>AGENDA</vt:lpstr>
      <vt:lpstr>ABSTRACT</vt:lpstr>
      <vt:lpstr>INTRODUCTION</vt:lpstr>
      <vt:lpstr>EXISTING SYSTEM</vt:lpstr>
      <vt:lpstr>DISADVANTAGES OF EXISTING SYSTEM</vt:lpstr>
      <vt:lpstr>PROPOSED SYSTEM</vt:lpstr>
      <vt:lpstr>PowerPoint Presentation</vt:lpstr>
      <vt:lpstr>SYSTEM REQUIREMENTS</vt:lpstr>
      <vt:lpstr>PowerPoint Presentation</vt:lpstr>
      <vt:lpstr> SYSTEM DESIGN   </vt:lpstr>
      <vt:lpstr>CLASS DIAGRAM:</vt:lpstr>
      <vt:lpstr>USE CASE DIAGRAM :</vt:lpstr>
      <vt:lpstr>SEQUENCE DIAGRAM</vt:lpstr>
      <vt:lpstr>ACTIVITY DIAGRAM</vt:lpstr>
      <vt:lpstr>Implementation</vt:lpstr>
      <vt:lpstr>Result</vt:lpstr>
      <vt:lpstr>PowerPoint Presentation</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COLLEGE OF ENGINEERING &amp; TECHNOLOGY  (Autonomous Institution – UGC, Govt. of India)   DEPARTMENT OF COMPUTER SCIENCE AND ENGINEERING</dc:title>
  <dc:creator>MRCET</dc:creator>
  <cp:lastModifiedBy>Kusuma Korlam</cp:lastModifiedBy>
  <cp:revision>21</cp:revision>
  <dcterms:created xsi:type="dcterms:W3CDTF">2024-02-28T09:55:00Z</dcterms:created>
  <dcterms:modified xsi:type="dcterms:W3CDTF">2025-04-30T10:44:13Z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5C0C7BA76EA44C868F58769FF5098512_13</vt:lpwstr>
  </property>
  <property fmtid="{D5CDD505-2E9C-101B-9397-08002B2CF9AE}" pid="3" name="KSOProductBuildVer">
    <vt:lpwstr>2057-12.2.0.19821</vt:lpwstr>
  </property>
</Properties>
</file>